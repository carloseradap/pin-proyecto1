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7" r:id="rId4"/>
    <p:sldId id="278" r:id="rId5"/>
    <p:sldId id="280" r:id="rId6"/>
    <p:sldId id="270" r:id="rId7"/>
    <p:sldId id="281" r:id="rId8"/>
    <p:sldId id="283" r:id="rId9"/>
    <p:sldId id="285" r:id="rId10"/>
    <p:sldId id="287" r:id="rId11"/>
    <p:sldId id="273" r:id="rId12"/>
    <p:sldId id="274" r:id="rId13"/>
    <p:sldId id="276" r:id="rId14"/>
    <p:sldId id="265" r:id="rId15"/>
    <p:sldId id="288" r:id="rId16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1436" autoAdjust="0"/>
  </p:normalViewPr>
  <p:slideViewPr>
    <p:cSldViewPr snapToGrid="0">
      <p:cViewPr varScale="1">
        <p:scale>
          <a:sx n="45" d="100"/>
          <a:sy n="45" d="100"/>
        </p:scale>
        <p:origin x="14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7FF88-C2B1-4C28-A2D3-D395D5AA51D7}" type="datetimeFigureOut">
              <a:rPr lang="es-CR" smtClean="0"/>
              <a:t>18/2/26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B94EE-2F0F-4A5B-B7ED-6BD63A212F8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3232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1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55936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incorporan prácticas modernas de: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Infraestructura como Código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Seguridad en la cadena de suministro (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Security)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Automatización de despliegue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91928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F8B3E-61F4-4F31-262C-73CFB0350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484A65-1290-866C-E5D1-92B7DA96F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A239CA-1B26-5374-3F37-E0064055D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incorporan prácticas modernas de: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Infraestructura como Código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Seguridad en la cadena de suministro (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Security)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Automatización de despliegue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23918C-A9A3-3396-962D-00599910F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47690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BB4B-0BAB-D3AD-388E-BFA0EE1B2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CB715F-F9ED-4587-F208-390379CB2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5BF2680-248C-60A4-4350-D2674A8E5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incorporan prácticas modernas de: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Infraestructura como Código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Seguridad en la cadena de suministro (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Security)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Automatización de despliegue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DE82C6-89ED-F8CD-BA9F-AE6B43F2E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9932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6CA8-6F83-256D-878E-DDCEE548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9ACE07-C676-96DC-CE6B-99A842B408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93E685-33D4-F850-4E84-0E84A8459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 instancia: t2.micro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Puertos tipo TCP</a:t>
            </a:r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A839C6B-0B42-2971-C6F3-86E7DEE5D6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5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72342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8D91-65C9-2C72-D338-0605BD3C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C93A24-87D6-D4D6-311A-94B4FF0AA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17CC6D-82F7-6B65-B40A-705998FD6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 instancia: t2.micro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Puertos tipo TCP</a:t>
            </a:r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231B2E-7D0D-6DE8-9540-D0F2C40B42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6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5491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FBFD-E163-D27F-3FE8-761C05AB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6602E0-B493-C528-6E95-6BE1DA786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AA2034E-7C43-15A1-30C1-E99FCCAD7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incorporan prácticas modernas de: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Infraestructura como Código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Seguridad en la cadena de suministro (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Security)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Automatización de despliegue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75ACDE-500E-8E73-3621-BCB860A70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7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722887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2114D-419E-C304-BB39-8219D410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5520CE6-3709-A2AF-859E-E243721A9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77336D4-8D00-EC8E-592F-727BE85ED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incorporan prácticas modernas de: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Infraestructura como Código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Seguridad en la cadena de suministro (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Security)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Automatización de despliegue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164DDE-7A44-558C-5205-2B68B1DE0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8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46862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79199-75DE-1BE6-B271-032B2FF9F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0B7C2E-395B-2C68-6239-A8B686885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501F0F9-D331-51C5-874C-054DBC239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incorporan prácticas modernas de: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Infraestructura como Código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Seguridad en la cadena de suministro (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Security)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Automatización de despliegue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D539B9-14B8-E243-431C-3884CAD06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9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064481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1FF5-BB28-F07A-2D10-CC5B9AFA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45932A-9FE7-30B7-BC41-CB4FC051D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986342-96FB-8B05-E3F5-60F12741E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incorporan prácticas modernas de: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DevSecOps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Infraestructura como Código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Seguridad en la cadena de suministro (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Chain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Security)</a:t>
            </a: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Observabilidad</a:t>
            </a:r>
            <a:endParaRPr lang="es-C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Automatización de despliegue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50C4D7A-A6E4-AC8C-B164-1882A7E33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10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388731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8AD8D-FC17-A48E-FD1F-EF49B849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30EE999-5709-DDAC-54FE-B35D32268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2DA2C8D-FB68-D9DB-BFFB-1AC1C0414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Explica cómo se gestionan los secretos del proyecto de forma segura utilizando </a:t>
            </a:r>
            <a:r>
              <a:rPr lang="es-C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 </a:t>
            </a:r>
            <a:r>
              <a:rPr lang="es-C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credenciales sensibles como claves de AWS, el host de la instancia EC2, la llave SSH y el token de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Snyk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almacenan de manera cifrada dentro del repositorio, evitando que queden expuestas en el código o en el pipeline.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 garantiza buenas prácticas de seguridad y protege el acceso a la infraestructura y a los servicios utilizados por el proyecto.</a:t>
            </a:r>
          </a:p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4202F2-D9CE-6710-807A-17F5AC602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11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70965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874FE-69F3-272D-42C0-65B910FDB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C695AA-8BA4-9C26-F5F0-5D2C8D8475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5CA7C8-5E1C-BB37-2D13-544C8C734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Evidencias </a:t>
            </a:r>
            <a:r>
              <a:rPr lang="es-C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técnicas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producidas durante el proyecto.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memoria por contenedor, CPU por contenedor, uso de disco, estado de la app.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Monitoreo de la instancia EC2 en AWS.</a:t>
            </a:r>
          </a:p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B10C46-6AED-BB34-39A8-04CD2AD8A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12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88429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DAF1F-6F9B-C669-FAD5-16ACF2106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4A614D-7164-16F1-7B44-BAEA65A91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700977F-2118-98AF-4081-82304132A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Presenta las principales mejoras que se pueden implementar en el proyecto para fortalecer la seguridad, escalabilidad y automatización.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 ellas están: habilitar </a:t>
            </a:r>
            <a:r>
              <a:rPr lang="es-C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TLS/HTTPS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certificados gestionados, agregar un </a:t>
            </a:r>
            <a:r>
              <a:rPr lang="es-C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WAF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mayor protección, migrar a </a:t>
            </a:r>
            <a:r>
              <a:rPr lang="es-C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ECS o EKS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un orquestador más robusto, integrar herramientas de seguridad como </a:t>
            </a:r>
            <a:r>
              <a:rPr lang="es-C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Trivy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C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SonarQube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 adoptar </a:t>
            </a:r>
            <a:r>
              <a:rPr lang="es-C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OIDC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GitHub </a:t>
            </a:r>
            <a:r>
              <a:rPr lang="es-C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eliminar el uso de claves de acceso.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 estas acciones elevan el nivel profesional y la madurez del sistema.</a:t>
            </a:r>
          </a:p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C475A0-8723-33A6-842C-51BE83159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13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36902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conclusión, este proyecto integra desarrollo, automatización y despliegue en la nube siguiendo prácticas reales de DevOps.</a:t>
            </a:r>
            <a:b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permitió aplicar CI/CD, contenedores, infraestructura como código y servicios de AWS en un flujo completamente automatizado.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"En este proyecto el enfoque principal fue la automatización del pipeline y el despliegue continuo."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14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6182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B2A9-EA16-C0D0-8502-F4DB9A74C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6FDC6C7-93F9-E860-8D40-4F4EF69D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8B388C-4FDE-9FB5-F3C0-C1D11E65D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conclusión, este proyecto integra desarrollo, automatización y despliegue en la nube siguiendo prácticas reales de DevOps.</a:t>
            </a:r>
            <a:b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permitió aplicar CI/CD, contenedores, infraestructura como código y servicios de AWS en un flujo completamente automatizado.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"En este proyecto el enfoque principal fue la automatización del pipeline y el despliegue continuo."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C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F63F74-3369-9790-9ACB-E37091C3F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94EE-2F0F-4A5B-B7ED-6BD63A212F82}" type="slidenum">
              <a:rPr lang="es-CR" smtClean="0"/>
              <a:t>15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72950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56701-5E53-4F53-EE28-774B10B7E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31577B-E214-5386-786C-E27B22474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B6965D-44F1-05A5-877C-ABEEB091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72CE7A-9FA2-31B2-35C2-2330F14B6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E0BB09-0E4B-0835-5F55-10FB40690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23878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2BC54-B4CF-C06A-BDCC-A07BA5E91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A5A658-B08B-A216-38A5-E4456E07D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8FA23A-5F80-DC1F-9477-94163ED3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371D6E-9907-AE43-15F7-E9377FB3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A49A47-6D36-303B-94DD-61256B6E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2199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0315F-C5AE-F8E5-A146-8B17ED05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6BFF1D-8E4A-FC1F-F213-67756593E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34347C-9FA7-14FC-CCD6-4227B2CF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08571D-A48A-76DC-6395-B161F1E8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8F4ECA-D104-5DD8-C2EE-6CBC9E24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45061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A1CF6-C669-44FE-9083-E06D5717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A90A9B-F9D1-EFAC-8BD5-3807A7BEA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6D7B9B-E763-92C1-C60D-9549019ED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9880FA-55B0-3CDE-C4D1-1D9C8F50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E950F5-13D6-86E7-B07B-536082325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21B78-B1A8-5027-8192-4BCDF0D6A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4511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E18342-AA16-960C-703C-714FFE2C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8070B0-C307-52D7-7854-AE78367B9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7FF7BB7-0D89-7C85-B1BC-554F08A9A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271054-7C7A-6C9F-0E72-E6745C6EE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4F40C6-0DAA-9B94-673D-800831118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903904-67D8-CE82-80E2-FA1A6187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F8CBF8A-2BA5-DB1D-4171-BB786D69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2944E3A-823D-B15B-B172-687CEEE9E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6474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490CE-C762-C7B5-1725-D23A59B1E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6F155E-7D26-52A0-920B-BF117098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90824B-660A-D078-0050-2F453C39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E7C063-82E2-7D3B-3DC5-B2D61D8C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7119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DD35B40-38BE-30D8-542F-2D8720EBA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A35A88-75B1-31C1-314B-A0B7348B0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58B053-BF96-554A-DF4B-57871114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0461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C82FB-D836-ED42-EFA2-B757DA87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C44BF3-0E26-AC56-4CBE-0431AB5FB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AE0962-0DF9-BEB3-3FEF-5813F1582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1BD849-A311-A667-9E3D-5D39EA01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2445CA-AADD-1A23-191F-77B4B364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593728-DB85-FBD7-9D64-A32F8470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934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48729-1ADE-DAD5-73B6-29A4C5A67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2C8686-CBDA-604F-EB1F-217A3D88C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600523-6F7A-997B-BF7B-0D5BE5A3B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671BD4-9107-4931-21C3-6609FCA2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99A58F-E77A-266A-CDE5-5C7B4BE9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8949CA-9536-9244-C0C9-F6F576F9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34839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91306-D4EF-AF08-22E7-EAC388FBB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DE9B72-DB1F-C5B5-FBA9-43AC01ABA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D01BAA-398F-A56A-0462-98386DF3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9944C2-2410-F2DB-835C-9F3F38F4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A84FD4-C740-C49A-DFB1-7E86214B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95092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656D92-3E78-EFC4-51CF-C491B042C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24EA77-293E-6A80-861E-57747FF1A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549BA-413D-F375-9655-573C6A89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C955C2-F8E7-B173-3DC9-FC0996CC9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B7D13C-85BD-1FE7-DC39-0897806A3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6788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76BF00-DBD0-62DC-2397-ADBCF4B7D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444942-F0E3-E0CD-A551-41562C48D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9CAB2A-1094-14B4-F1DF-730422109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DD487-7D91-4160-927A-5BDF8F453B33}" type="datetimeFigureOut">
              <a:rPr lang="es-CR" smtClean="0"/>
              <a:t>18/2/26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8DCFFA-E67D-A037-F71F-2A9447A3D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817166-DB57-A7AE-C156-1B3BCF9E96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1C797-E0E3-4CC5-B55E-9FAB014ECE78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0699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03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3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3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559294"/>
            <a:ext cx="12191999" cy="6298279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72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E96B77-1AB2-FDF5-333F-F694CA509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4979871"/>
            <a:ext cx="4738943" cy="1336876"/>
          </a:xfrm>
        </p:spPr>
        <p:txBody>
          <a:bodyPr>
            <a:noAutofit/>
          </a:bodyPr>
          <a:lstStyle/>
          <a:p>
            <a:pPr algn="l"/>
            <a:r>
              <a:rPr lang="es-CR" sz="2000" b="1" dirty="0">
                <a:solidFill>
                  <a:srgbClr val="FFFFFF"/>
                </a:solidFill>
              </a:rPr>
              <a:t>Nombre de los estudiantes:</a:t>
            </a:r>
          </a:p>
          <a:p>
            <a:pPr algn="l"/>
            <a:r>
              <a:rPr lang="es-CR" sz="2000" dirty="0">
                <a:solidFill>
                  <a:srgbClr val="FFFFFF"/>
                </a:solidFill>
              </a:rPr>
              <a:t>Carlos Rada</a:t>
            </a:r>
          </a:p>
          <a:p>
            <a:pPr algn="l"/>
            <a:r>
              <a:rPr lang="es-CR" sz="2000" dirty="0">
                <a:solidFill>
                  <a:srgbClr val="FFFFFF"/>
                </a:solidFill>
              </a:rPr>
              <a:t>Eliany Escalante</a:t>
            </a:r>
          </a:p>
          <a:p>
            <a:pPr algn="l"/>
            <a:r>
              <a:rPr lang="es-CR" sz="2000" dirty="0">
                <a:solidFill>
                  <a:srgbClr val="FFFFFF"/>
                </a:solidFill>
              </a:rPr>
              <a:t>Silvia Zeledón</a:t>
            </a:r>
          </a:p>
          <a:p>
            <a:endParaRPr lang="es-CR" sz="2000" dirty="0">
              <a:solidFill>
                <a:srgbClr val="FFFFFF"/>
              </a:solidFill>
            </a:endParaRPr>
          </a:p>
          <a:p>
            <a:endParaRPr lang="es-CR" sz="2000" dirty="0">
              <a:solidFill>
                <a:srgbClr val="FFFFFF"/>
              </a:solidFill>
            </a:endParaRPr>
          </a:p>
        </p:txBody>
      </p:sp>
      <p:sp>
        <p:nvSpPr>
          <p:cNvPr id="1034" name="Freeform: Shape 1038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"/>
                </a:schemeClr>
              </a:gs>
              <a:gs pos="68000">
                <a:schemeClr val="accent1">
                  <a:alpha val="15000"/>
                </a:schemeClr>
              </a:gs>
            </a:gsLst>
            <a:lin ang="21594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7962A9D-F591-307E-BE04-4A2CD062FC9C}"/>
              </a:ext>
            </a:extLst>
          </p:cNvPr>
          <p:cNvSpPr txBox="1"/>
          <p:nvPr/>
        </p:nvSpPr>
        <p:spPr>
          <a:xfrm>
            <a:off x="9657265" y="599358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sz="1800" dirty="0">
                <a:solidFill>
                  <a:srgbClr val="FFFFFF"/>
                </a:solidFill>
              </a:rPr>
              <a:t>Fecha de Entrega :</a:t>
            </a:r>
          </a:p>
          <a:p>
            <a:r>
              <a:rPr lang="es-CR" sz="1800" dirty="0">
                <a:solidFill>
                  <a:srgbClr val="FFFFFF"/>
                </a:solidFill>
              </a:rPr>
              <a:t>18 de Febrero de 2026</a:t>
            </a:r>
          </a:p>
        </p:txBody>
      </p:sp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4EC22679-CAD7-0017-55C5-C3E33345D2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1000"/>
          </a:blip>
          <a:stretch>
            <a:fillRect/>
          </a:stretch>
        </p:blipFill>
        <p:spPr>
          <a:xfrm>
            <a:off x="2132146" y="668927"/>
            <a:ext cx="7822532" cy="521502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6ECDED-ACAF-6448-A286-D61AF519A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8960" y="1345516"/>
            <a:ext cx="9947305" cy="1336876"/>
          </a:xfrm>
        </p:spPr>
        <p:txBody>
          <a:bodyPr>
            <a:noAutofit/>
          </a:bodyPr>
          <a:lstStyle/>
          <a:p>
            <a:r>
              <a:rPr lang="es-CR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Proyecto Integrador DevOps</a:t>
            </a:r>
            <a:br>
              <a:rPr lang="es-CR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s-CR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Aplicación Web con CI/CD y Despliegue en AWS</a:t>
            </a:r>
          </a:p>
        </p:txBody>
      </p:sp>
    </p:spTree>
    <p:extLst>
      <p:ext uri="{BB962C8B-B14F-4D97-AF65-F5344CB8AC3E}">
        <p14:creationId xmlns:p14="http://schemas.microsoft.com/office/powerpoint/2010/main" val="129440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ED03F8-D244-4B83-1DC2-0477450EC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5395"/>
            <a:ext cx="4230100" cy="21455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Introducción</a:t>
            </a:r>
            <a:endParaRPr lang="en-US" sz="4000" b="1" kern="1200" dirty="0">
              <a:solidFill>
                <a:schemeClr val="accent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42754F2-6962-8CEC-62C5-2ABA96B1BADE}"/>
              </a:ext>
            </a:extLst>
          </p:cNvPr>
          <p:cNvSpPr txBox="1"/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Este </a:t>
            </a:r>
            <a:r>
              <a:rPr lang="en-US" sz="2000" dirty="0" err="1"/>
              <a:t>proyecto</a:t>
            </a:r>
            <a:r>
              <a:rPr lang="en-US" sz="2000" dirty="0"/>
              <a:t> </a:t>
            </a:r>
            <a:r>
              <a:rPr lang="en-US" sz="2000" dirty="0" err="1"/>
              <a:t>aplica</a:t>
            </a:r>
            <a:r>
              <a:rPr lang="en-US" sz="2000" dirty="0"/>
              <a:t> </a:t>
            </a:r>
            <a:r>
              <a:rPr lang="en-US" sz="2000" dirty="0" err="1"/>
              <a:t>principios</a:t>
            </a:r>
            <a:r>
              <a:rPr lang="en-US" sz="2000" dirty="0"/>
              <a:t> de DevOps para </a:t>
            </a:r>
            <a:r>
              <a:rPr lang="en-US" sz="2000" dirty="0" err="1"/>
              <a:t>automatizar</a:t>
            </a:r>
            <a:r>
              <a:rPr lang="en-US" sz="2000" dirty="0"/>
              <a:t> la </a:t>
            </a:r>
            <a:r>
              <a:rPr lang="en-US" sz="2000" dirty="0" err="1"/>
              <a:t>construcción</a:t>
            </a:r>
            <a:r>
              <a:rPr lang="en-US" sz="2000" dirty="0"/>
              <a:t>, </a:t>
            </a:r>
            <a:r>
              <a:rPr lang="en-US" sz="2000" dirty="0" err="1"/>
              <a:t>empaquetado</a:t>
            </a:r>
            <a:r>
              <a:rPr lang="en-US" sz="2000" dirty="0"/>
              <a:t> y </a:t>
            </a:r>
            <a:r>
              <a:rPr lang="en-US" sz="2000" dirty="0" err="1"/>
              <a:t>despliegue</a:t>
            </a:r>
            <a:r>
              <a:rPr lang="en-US" sz="2000" dirty="0"/>
              <a:t> de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aplicación</a:t>
            </a:r>
            <a:r>
              <a:rPr lang="en-US" sz="2000" dirty="0"/>
              <a:t> web. 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sz="2000" dirty="0" err="1"/>
              <a:t>Utiliza</a:t>
            </a:r>
            <a:r>
              <a:rPr lang="en-US" sz="2000" dirty="0"/>
              <a:t> GitHub Actions, Docker, Terraform y </a:t>
            </a:r>
            <a:r>
              <a:rPr lang="en-US" sz="2000" dirty="0" err="1"/>
              <a:t>servicios</a:t>
            </a:r>
            <a:r>
              <a:rPr lang="en-US" sz="2000" dirty="0"/>
              <a:t> de AWS para </a:t>
            </a:r>
            <a:r>
              <a:rPr lang="en-US" sz="2000" dirty="0" err="1"/>
              <a:t>crear</a:t>
            </a:r>
            <a:r>
              <a:rPr lang="en-US" sz="2000" dirty="0"/>
              <a:t> un </a:t>
            </a:r>
            <a:r>
              <a:rPr lang="en-US" sz="2000" dirty="0" err="1"/>
              <a:t>flujo</a:t>
            </a:r>
            <a:r>
              <a:rPr lang="en-US" sz="2000" dirty="0"/>
              <a:t> CI/CD </a:t>
            </a:r>
            <a:r>
              <a:rPr lang="en-US" sz="2000" dirty="0" err="1"/>
              <a:t>confiable</a:t>
            </a:r>
            <a:r>
              <a:rPr lang="en-US" sz="2000" dirty="0"/>
              <a:t> y reproducible </a:t>
            </a:r>
            <a:r>
              <a:rPr lang="en-US" sz="2000" dirty="0" err="1"/>
              <a:t>que</a:t>
            </a:r>
            <a:r>
              <a:rPr lang="en-US" sz="2000" dirty="0"/>
              <a:t> reduce </a:t>
            </a:r>
            <a:r>
              <a:rPr lang="en-US" sz="2000" dirty="0" err="1"/>
              <a:t>errores</a:t>
            </a:r>
            <a:r>
              <a:rPr lang="en-US" sz="2000" dirty="0"/>
              <a:t> y </a:t>
            </a:r>
            <a:r>
              <a:rPr lang="en-US" sz="2000" dirty="0" err="1"/>
              <a:t>acelera</a:t>
            </a:r>
            <a:r>
              <a:rPr lang="en-US" sz="2000" dirty="0"/>
              <a:t> la </a:t>
            </a:r>
            <a:r>
              <a:rPr lang="en-US" sz="2000" dirty="0" err="1"/>
              <a:t>entrega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619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F01585-1100-0673-30DD-EA8001F3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018FB1-FA1C-33BE-BD6B-D730D54C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Arquitectura</a:t>
            </a:r>
            <a:endParaRPr lang="en-US" sz="4000" b="1" kern="1200" dirty="0">
              <a:solidFill>
                <a:schemeClr val="accent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B195DA60-4149-AFD5-23BA-F35CB8E0C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53" y="1575459"/>
            <a:ext cx="10634146" cy="4247060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AE50ED3-55E4-A37F-75A4-E6C848CED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911155"/>
              </p:ext>
            </p:extLst>
          </p:nvPr>
        </p:nvGraphicFramePr>
        <p:xfrm>
          <a:off x="1026128" y="3698989"/>
          <a:ext cx="5241898" cy="2932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0949">
                  <a:extLst>
                    <a:ext uri="{9D8B030D-6E8A-4147-A177-3AD203B41FA5}">
                      <a16:colId xmlns:a16="http://schemas.microsoft.com/office/drawing/2014/main" val="3733127677"/>
                    </a:ext>
                  </a:extLst>
                </a:gridCol>
                <a:gridCol w="2620949">
                  <a:extLst>
                    <a:ext uri="{9D8B030D-6E8A-4147-A177-3AD203B41FA5}">
                      <a16:colId xmlns:a16="http://schemas.microsoft.com/office/drawing/2014/main" val="3279826545"/>
                    </a:ext>
                  </a:extLst>
                </a:gridCol>
              </a:tblGrid>
              <a:tr h="293281">
                <a:tc>
                  <a:txBody>
                    <a:bodyPr/>
                    <a:lstStyle/>
                    <a:p>
                      <a:pPr algn="ctr"/>
                      <a:r>
                        <a:rPr lang="es-CR" sz="1200" dirty="0"/>
                        <a:t>COMPONENTE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R" sz="1200" dirty="0"/>
                        <a:t>FUNCIÓN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918710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/>
                        <a:t>Docker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 err="1"/>
                        <a:t>Contenerización</a:t>
                      </a:r>
                      <a:endParaRPr lang="es-C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247500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/>
                        <a:t>GitHub </a:t>
                      </a:r>
                      <a:r>
                        <a:rPr lang="es-CR" sz="1200" dirty="0" err="1"/>
                        <a:t>Action</a:t>
                      </a:r>
                      <a:endParaRPr lang="es-C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Pipeline CI/CD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48901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/>
                        <a:t>Amazon ECR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Registro de imágenes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159829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/>
                        <a:t>EC2 (t2.micro)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Host de ejecución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08353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/>
                        <a:t>IAM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Autenticación segura contra ECR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221034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 err="1"/>
                        <a:t>Prometheus</a:t>
                      </a:r>
                      <a:endParaRPr lang="es-C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Recolección de métricas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411043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 err="1"/>
                        <a:t>Node</a:t>
                      </a:r>
                      <a:r>
                        <a:rPr lang="es-CR" sz="1200" dirty="0"/>
                        <a:t> </a:t>
                      </a:r>
                      <a:r>
                        <a:rPr lang="es-CR" sz="1200" dirty="0" err="1"/>
                        <a:t>Exporter</a:t>
                      </a:r>
                      <a:endParaRPr lang="es-C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Métricas de host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272005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 err="1"/>
                        <a:t>cAdvisor</a:t>
                      </a:r>
                      <a:endParaRPr lang="es-C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Métricas de contenedores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04820"/>
                  </a:ext>
                </a:extLst>
              </a:tr>
              <a:tr h="293281">
                <a:tc>
                  <a:txBody>
                    <a:bodyPr/>
                    <a:lstStyle/>
                    <a:p>
                      <a:r>
                        <a:rPr lang="es-CR" sz="1200" dirty="0" err="1"/>
                        <a:t>Grafana</a:t>
                      </a:r>
                      <a:endParaRPr lang="es-C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200" dirty="0"/>
                        <a:t>Visualización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087311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43821642-C1F2-C8E6-40C2-049BD25FC3A6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900" b="0" i="0" kern="1200" dirty="0" err="1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900" b="0" i="0" kern="1200" dirty="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: .</a:t>
            </a:r>
            <a:r>
              <a:rPr lang="en-US" sz="1900" b="0" i="0" kern="1200" dirty="0" err="1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en-US" sz="1900" b="0" i="0" kern="1200" dirty="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/workflows/</a:t>
            </a:r>
            <a:r>
              <a:rPr lang="en-US" sz="1900" b="0" i="0" kern="1200" dirty="0" err="1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deploy.yml</a:t>
            </a:r>
            <a:endParaRPr lang="en-US" sz="19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7238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6A59C-FD9F-4154-1532-D7ADDBC4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A84B0F-8114-4F29-D0A3-F2DD3CCE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Fase 1: </a:t>
            </a:r>
            <a:r>
              <a:rPr lang="es-CR" sz="4000" b="1" dirty="0">
                <a:solidFill>
                  <a:srgbClr val="FFFFFF"/>
                </a:solidFill>
              </a:rPr>
              <a:t>Desarrollo de Aplicación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AA4A7C-90FF-EC0D-4ACA-B6DAA274845E}"/>
              </a:ext>
            </a:extLst>
          </p:cNvPr>
          <p:cNvSpPr txBox="1">
            <a:spLocks/>
          </p:cNvSpPr>
          <p:nvPr/>
        </p:nvSpPr>
        <p:spPr>
          <a:xfrm>
            <a:off x="6817292" y="2041063"/>
            <a:ext cx="64373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R" b="1" dirty="0">
                <a:solidFill>
                  <a:schemeClr val="accent1">
                    <a:lumMod val="75000"/>
                  </a:schemeClr>
                </a:solidFill>
              </a:rPr>
              <a:t>Decisiones Técnicas:</a:t>
            </a:r>
          </a:p>
          <a:p>
            <a:pPr marL="0" indent="0">
              <a:buNone/>
            </a:pPr>
            <a:r>
              <a:rPr lang="es-CR" sz="2200" b="1" u="sng" dirty="0"/>
              <a:t>Vite en lugar de </a:t>
            </a:r>
            <a:r>
              <a:rPr lang="es-CR" sz="2200" b="1" u="sng" dirty="0" err="1"/>
              <a:t>Create</a:t>
            </a:r>
            <a:r>
              <a:rPr lang="es-CR" sz="2200" b="1" u="sng" dirty="0"/>
              <a:t> </a:t>
            </a:r>
            <a:r>
              <a:rPr lang="es-CR" sz="2200" b="1" u="sng" dirty="0" err="1"/>
              <a:t>React</a:t>
            </a:r>
            <a:r>
              <a:rPr lang="es-CR" sz="2200" b="1" u="sng" dirty="0"/>
              <a:t> App</a:t>
            </a:r>
          </a:p>
          <a:p>
            <a:r>
              <a:rPr lang="es-CR" sz="2200" dirty="0"/>
              <a:t>Mayor velocidad de </a:t>
            </a:r>
            <a:r>
              <a:rPr lang="es-CR" sz="2200" dirty="0" err="1"/>
              <a:t>build</a:t>
            </a:r>
            <a:r>
              <a:rPr lang="es-CR" sz="2200" dirty="0"/>
              <a:t>.</a:t>
            </a:r>
          </a:p>
          <a:p>
            <a:r>
              <a:rPr lang="es-CR" sz="2200" dirty="0"/>
              <a:t>Mejor optimización.</a:t>
            </a:r>
          </a:p>
          <a:p>
            <a:r>
              <a:rPr lang="es-CR" sz="2200" dirty="0"/>
              <a:t>Configuración moderna.</a:t>
            </a:r>
          </a:p>
          <a:p>
            <a:pPr marL="0" indent="0">
              <a:buNone/>
            </a:pPr>
            <a:endParaRPr lang="es-CR" sz="2400" b="1" u="sng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CR" b="1" u="sng" dirty="0" err="1">
                <a:solidFill>
                  <a:schemeClr val="accent1">
                    <a:lumMod val="75000"/>
                  </a:schemeClr>
                </a:solidFill>
              </a:rPr>
              <a:t>TypeScript</a:t>
            </a:r>
            <a:endParaRPr lang="es-CR" b="1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CR" sz="2200" dirty="0"/>
              <a:t>Tipado estático.</a:t>
            </a:r>
          </a:p>
          <a:p>
            <a:r>
              <a:rPr lang="es-CR" sz="2200" dirty="0"/>
              <a:t>Prevención temprana de errores.</a:t>
            </a:r>
          </a:p>
          <a:p>
            <a:r>
              <a:rPr lang="es-CR" sz="2200" dirty="0"/>
              <a:t>Mejor mantenibilidad.</a:t>
            </a:r>
          </a:p>
          <a:p>
            <a:endParaRPr lang="es-CR" dirty="0"/>
          </a:p>
          <a:p>
            <a:endParaRPr lang="es-CR" dirty="0"/>
          </a:p>
          <a:p>
            <a:pPr marL="0" indent="0">
              <a:buFont typeface="Arial" panose="020B0604020202020204" pitchFamily="34" charset="0"/>
              <a:buNone/>
            </a:pPr>
            <a:endParaRPr lang="es-CR" dirty="0"/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C485966-A0B8-ADC0-69E8-52E6EF039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55" y="1773222"/>
            <a:ext cx="3822028" cy="3383043"/>
          </a:xfrm>
          <a:prstGeom prst="rect">
            <a:avLst/>
          </a:prstGeom>
        </p:spPr>
      </p:pic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ABE60CD-29D6-11CB-B720-A234BC545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968740"/>
              </p:ext>
            </p:extLst>
          </p:nvPr>
        </p:nvGraphicFramePr>
        <p:xfrm>
          <a:off x="1027135" y="5353041"/>
          <a:ext cx="41021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2261502419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1125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R" sz="1600" dirty="0"/>
                        <a:t>COMPONENTE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R" sz="1600" dirty="0"/>
                        <a:t>FUNCIÓN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174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1600" dirty="0" err="1"/>
                        <a:t>React</a:t>
                      </a:r>
                      <a:r>
                        <a:rPr lang="es-CR" sz="1600" dirty="0"/>
                        <a:t> + 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600" dirty="0"/>
                        <a:t>Aplicación </a:t>
                      </a:r>
                      <a:r>
                        <a:rPr lang="es-CR" sz="1600" dirty="0" err="1"/>
                        <a:t>Frontend</a:t>
                      </a:r>
                      <a:r>
                        <a:rPr lang="es-CR" sz="1600" dirty="0"/>
                        <a:t> SPA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7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1600" dirty="0" err="1"/>
                        <a:t>ChatGPT</a:t>
                      </a:r>
                      <a:endParaRPr lang="es-C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R" sz="1600" dirty="0"/>
                        <a:t>Inteligencia Artificial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720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04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C4528-03DF-7778-5FDF-3C88B915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2FB574C-CEC0-5A03-3956-D15C123D7D15}"/>
              </a:ext>
            </a:extLst>
          </p:cNvPr>
          <p:cNvSpPr txBox="1">
            <a:spLocks/>
          </p:cNvSpPr>
          <p:nvPr/>
        </p:nvSpPr>
        <p:spPr>
          <a:xfrm>
            <a:off x="1236942" y="0"/>
            <a:ext cx="9718111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FFFFFF"/>
                </a:solidFill>
              </a:rPr>
              <a:t>Fase 2:  </a:t>
            </a:r>
            <a:r>
              <a:rPr lang="en-US" sz="4000" b="1" dirty="0" err="1">
                <a:solidFill>
                  <a:srgbClr val="FFFFFF"/>
                </a:solidFill>
              </a:rPr>
              <a:t>Contenerización</a:t>
            </a:r>
            <a:endParaRPr lang="en-US" sz="4000" b="1" dirty="0">
              <a:solidFill>
                <a:srgbClr val="FFFFFF"/>
              </a:solidFill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C3E57DDF-9A72-23AF-72D8-5EA26841E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89" y="2244920"/>
            <a:ext cx="4472837" cy="2123440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s-CR" sz="2600" b="1" dirty="0" err="1">
                <a:solidFill>
                  <a:schemeClr val="accent2">
                    <a:lumMod val="75000"/>
                  </a:schemeClr>
                </a:solidFill>
              </a:rPr>
              <a:t>Dockerfile</a:t>
            </a:r>
            <a:r>
              <a:rPr lang="es-CR" sz="2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CR" sz="2600" b="1" dirty="0" err="1">
                <a:solidFill>
                  <a:schemeClr val="accent2">
                    <a:lumMod val="75000"/>
                  </a:schemeClr>
                </a:solidFill>
              </a:rPr>
              <a:t>Multi-stage</a:t>
            </a:r>
            <a:endParaRPr lang="es-CR" sz="26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s-CR" sz="1200" dirty="0"/>
          </a:p>
          <a:p>
            <a:pPr marL="0" indent="0">
              <a:buNone/>
            </a:pPr>
            <a:r>
              <a:rPr lang="es-CR" sz="2400" b="1" u="sng" dirty="0">
                <a:solidFill>
                  <a:srgbClr val="0070C0"/>
                </a:solidFill>
              </a:rPr>
              <a:t>Etapa 1: </a:t>
            </a:r>
            <a:r>
              <a:rPr lang="es-CR" sz="2400" b="1" u="sng" dirty="0" err="1">
                <a:solidFill>
                  <a:srgbClr val="0070C0"/>
                </a:solidFill>
              </a:rPr>
              <a:t>Build</a:t>
            </a:r>
            <a:endParaRPr lang="es-CR" sz="2400" b="1" u="sng" dirty="0">
              <a:solidFill>
                <a:srgbClr val="0070C0"/>
              </a:solidFill>
            </a:endParaRPr>
          </a:p>
          <a:p>
            <a:r>
              <a:rPr lang="es-CR" sz="2400" dirty="0"/>
              <a:t>Imagen base: node:20-alpine</a:t>
            </a:r>
          </a:p>
          <a:p>
            <a:r>
              <a:rPr lang="es-CR" sz="2400" dirty="0"/>
              <a:t>Ejecuta </a:t>
            </a:r>
            <a:r>
              <a:rPr lang="es-CR" sz="2400" dirty="0" err="1"/>
              <a:t>npm</a:t>
            </a:r>
            <a:r>
              <a:rPr lang="es-CR" sz="2400" dirty="0"/>
              <a:t> </a:t>
            </a:r>
            <a:r>
              <a:rPr lang="es-CR" sz="2400" dirty="0" err="1"/>
              <a:t>ci</a:t>
            </a:r>
            <a:endParaRPr lang="es-CR" sz="2400" dirty="0"/>
          </a:p>
          <a:p>
            <a:r>
              <a:rPr lang="es-CR" sz="2400" dirty="0"/>
              <a:t>Ejecuta </a:t>
            </a:r>
            <a:r>
              <a:rPr lang="es-CR" sz="2400" dirty="0" err="1"/>
              <a:t>npm</a:t>
            </a:r>
            <a:r>
              <a:rPr lang="es-CR" sz="2400" dirty="0"/>
              <a:t> run </a:t>
            </a:r>
            <a:r>
              <a:rPr lang="es-CR" sz="2400" dirty="0" err="1"/>
              <a:t>build</a:t>
            </a:r>
            <a:endParaRPr lang="es-CR" sz="2400" dirty="0"/>
          </a:p>
          <a:p>
            <a:pPr marL="0" indent="0">
              <a:buNone/>
            </a:pPr>
            <a:endParaRPr lang="es-CR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1E1EB2E-1DAE-F1A8-F8FC-A0C1998D219C}"/>
              </a:ext>
            </a:extLst>
          </p:cNvPr>
          <p:cNvSpPr txBox="1">
            <a:spLocks/>
          </p:cNvSpPr>
          <p:nvPr/>
        </p:nvSpPr>
        <p:spPr>
          <a:xfrm>
            <a:off x="475989" y="4678145"/>
            <a:ext cx="4891414" cy="2179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R" sz="2200" b="1" u="sng" dirty="0">
                <a:solidFill>
                  <a:srgbClr val="0070C0"/>
                </a:solidFill>
              </a:rPr>
              <a:t>Etapa 2: </a:t>
            </a:r>
            <a:r>
              <a:rPr lang="es-CR" sz="2200" b="1" u="sng" dirty="0" err="1">
                <a:solidFill>
                  <a:srgbClr val="0070C0"/>
                </a:solidFill>
              </a:rPr>
              <a:t>Runtime</a:t>
            </a:r>
            <a:endParaRPr lang="es-CR" sz="2200" b="1" u="sng" dirty="0">
              <a:solidFill>
                <a:srgbClr val="0070C0"/>
              </a:solidFill>
            </a:endParaRPr>
          </a:p>
          <a:p>
            <a:pPr>
              <a:lnSpc>
                <a:spcPct val="70000"/>
              </a:lnSpc>
            </a:pPr>
            <a:r>
              <a:rPr lang="es-CR" sz="2200" dirty="0" err="1"/>
              <a:t>Image</a:t>
            </a:r>
            <a:r>
              <a:rPr lang="es-CR" sz="2200" dirty="0"/>
              <a:t> base: </a:t>
            </a:r>
            <a:r>
              <a:rPr lang="es-CR" sz="2200" dirty="0" err="1"/>
              <a:t>nginx:alpine</a:t>
            </a:r>
            <a:endParaRPr lang="es-CR" sz="2200" dirty="0"/>
          </a:p>
          <a:p>
            <a:pPr>
              <a:lnSpc>
                <a:spcPct val="70000"/>
              </a:lnSpc>
            </a:pPr>
            <a:r>
              <a:rPr lang="es-CR" sz="2200" dirty="0"/>
              <a:t>Copia carpeta /</a:t>
            </a:r>
            <a:r>
              <a:rPr lang="es-CR" sz="2200" dirty="0" err="1"/>
              <a:t>dist</a:t>
            </a:r>
            <a:endParaRPr lang="es-CR" sz="2200" dirty="0"/>
          </a:p>
          <a:p>
            <a:pPr>
              <a:lnSpc>
                <a:spcPct val="70000"/>
              </a:lnSpc>
            </a:pPr>
            <a:r>
              <a:rPr lang="es-CR" sz="2200" dirty="0"/>
              <a:t>Expone puerto 80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R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5FB3DF4-3ACE-C18F-2EFF-DE112100C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38924"/>
              </p:ext>
            </p:extLst>
          </p:nvPr>
        </p:nvGraphicFramePr>
        <p:xfrm>
          <a:off x="5530738" y="4587237"/>
          <a:ext cx="5579943" cy="1898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421">
                  <a:extLst>
                    <a:ext uri="{9D8B030D-6E8A-4147-A177-3AD203B41FA5}">
                      <a16:colId xmlns:a16="http://schemas.microsoft.com/office/drawing/2014/main" val="1143823125"/>
                    </a:ext>
                  </a:extLst>
                </a:gridCol>
                <a:gridCol w="3352522">
                  <a:extLst>
                    <a:ext uri="{9D8B030D-6E8A-4147-A177-3AD203B41FA5}">
                      <a16:colId xmlns:a16="http://schemas.microsoft.com/office/drawing/2014/main" val="1253443988"/>
                    </a:ext>
                  </a:extLst>
                </a:gridCol>
              </a:tblGrid>
              <a:tr h="283785">
                <a:tc>
                  <a:txBody>
                    <a:bodyPr/>
                    <a:lstStyle/>
                    <a:p>
                      <a:r>
                        <a:rPr lang="es-CR" sz="1400" dirty="0"/>
                        <a:t>Decisión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CR" sz="1400" dirty="0"/>
                        <a:t>Justificación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097125"/>
                  </a:ext>
                </a:extLst>
              </a:tr>
              <a:tr h="404866">
                <a:tc>
                  <a:txBody>
                    <a:bodyPr/>
                    <a:lstStyle/>
                    <a:p>
                      <a:r>
                        <a:rPr lang="es-CR" sz="1400" dirty="0" err="1"/>
                        <a:t>Multi-stage</a:t>
                      </a:r>
                      <a:endParaRPr lang="es-CR" sz="14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s-CR" sz="1400" dirty="0"/>
                        <a:t>Reduce tamaño de imagen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3404251433"/>
                  </a:ext>
                </a:extLst>
              </a:tr>
              <a:tr h="404866">
                <a:tc>
                  <a:txBody>
                    <a:bodyPr/>
                    <a:lstStyle/>
                    <a:p>
                      <a:r>
                        <a:rPr lang="es-CR" sz="1400" dirty="0"/>
                        <a:t>Alpine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s-CR" sz="1400" dirty="0"/>
                        <a:t>Mejor superficie de ataque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2689081875"/>
                  </a:ext>
                </a:extLst>
              </a:tr>
              <a:tr h="278620">
                <a:tc>
                  <a:txBody>
                    <a:bodyPr/>
                    <a:lstStyle/>
                    <a:p>
                      <a:r>
                        <a:rPr lang="es-CR" sz="1400" dirty="0" err="1"/>
                        <a:t>Nginx</a:t>
                      </a:r>
                      <a:endParaRPr lang="es-CR" sz="1400" dirty="0"/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s-CR" sz="1400" dirty="0"/>
                        <a:t>Servidor ligero para SPA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1736166283"/>
                  </a:ext>
                </a:extLst>
              </a:tr>
              <a:tr h="481254">
                <a:tc>
                  <a:txBody>
                    <a:bodyPr/>
                    <a:lstStyle/>
                    <a:p>
                      <a:r>
                        <a:rPr lang="es-CR" sz="1400" dirty="0"/>
                        <a:t>No usar </a:t>
                      </a:r>
                      <a:r>
                        <a:rPr lang="es-CR" sz="1400" dirty="0" err="1"/>
                        <a:t>Node</a:t>
                      </a:r>
                      <a:r>
                        <a:rPr lang="es-CR" sz="1400" dirty="0"/>
                        <a:t> en producción</a:t>
                      </a:r>
                    </a:p>
                  </a:txBody>
                  <a:tcPr marT="36000" marB="36000"/>
                </a:tc>
                <a:tc>
                  <a:txBody>
                    <a:bodyPr/>
                    <a:lstStyle/>
                    <a:p>
                      <a:r>
                        <a:rPr lang="es-CR" sz="1400" dirty="0"/>
                        <a:t>Reducción de vectores de vulnerabilidad</a:t>
                      </a:r>
                    </a:p>
                  </a:txBody>
                  <a:tcPr marT="36000" marB="36000"/>
                </a:tc>
                <a:extLst>
                  <a:ext uri="{0D108BD9-81ED-4DB2-BD59-A6C34878D82A}">
                    <a16:rowId xmlns:a16="http://schemas.microsoft.com/office/drawing/2014/main" val="3612429725"/>
                  </a:ext>
                </a:extLst>
              </a:tr>
            </a:tbl>
          </a:graphicData>
        </a:graphic>
      </p:graphicFrame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AA8A1CB2-C4F6-759A-7C27-770DC9259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738" y="1608087"/>
            <a:ext cx="5867545" cy="260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411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2AEB60-8AB3-4887-C64E-BFE7CF5D0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7A4132-DC95-A50B-B5A4-32E359E5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Fase 3: </a:t>
            </a:r>
            <a:r>
              <a:rPr lang="en-US" sz="4000" b="1" dirty="0" err="1">
                <a:solidFill>
                  <a:srgbClr val="FFFFFF"/>
                </a:solidFill>
              </a:rPr>
              <a:t>Infraestructura</a:t>
            </a:r>
            <a:r>
              <a:rPr lang="en-US" sz="4000" b="1" dirty="0">
                <a:solidFill>
                  <a:srgbClr val="FFFFFF"/>
                </a:solidFill>
              </a:rPr>
              <a:t> </a:t>
            </a:r>
            <a:r>
              <a:rPr lang="en-US" sz="4000" b="1" dirty="0" err="1">
                <a:solidFill>
                  <a:srgbClr val="FFFFFF"/>
                </a:solidFill>
              </a:rPr>
              <a:t>en</a:t>
            </a:r>
            <a:r>
              <a:rPr lang="en-US" sz="4000" b="1" dirty="0">
                <a:solidFill>
                  <a:srgbClr val="FFFFFF"/>
                </a:solidFill>
              </a:rPr>
              <a:t> AWS</a:t>
            </a:r>
          </a:p>
        </p:txBody>
      </p:sp>
      <p:pic>
        <p:nvPicPr>
          <p:cNvPr id="11" name="Imagen 10" descr="Texto, Carta&#10;&#10;El contenido generado por IA puede ser incorrecto.">
            <a:extLst>
              <a:ext uri="{FF2B5EF4-FFF2-40B4-BE49-F238E27FC236}">
                <a16:creationId xmlns:a16="http://schemas.microsoft.com/office/drawing/2014/main" id="{31792D68-B91D-1706-FF70-C543F0D78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575" y="1966293"/>
            <a:ext cx="8830849" cy="438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51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42768-EAC5-DA35-E3C3-EE08EA4F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049B68-DBB5-A4B1-799B-57350B0BB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Flujo</a:t>
            </a:r>
            <a:r>
              <a:rPr lang="en-US" sz="4000" b="1" kern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del Pipeline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9F53147B-F72A-8863-C742-18E25624A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50" y="2903218"/>
            <a:ext cx="10666018" cy="193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928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1B898-2798-699D-5238-F50407B4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52E518-1A3B-8833-5467-622DC44B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556" y="349112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R" sz="40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DevSecOps</a:t>
            </a:r>
            <a:r>
              <a:rPr lang="es-CR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– Seguridad Implementada</a:t>
            </a:r>
            <a:endParaRPr lang="en-US" sz="40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942AE6-0095-5443-CD1A-24FE5A31B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82" y="1774358"/>
            <a:ext cx="4838700" cy="4351338"/>
          </a:xfrm>
        </p:spPr>
        <p:txBody>
          <a:bodyPr>
            <a:normAutofit/>
          </a:bodyPr>
          <a:lstStyle/>
          <a:p>
            <a:r>
              <a:rPr lang="es-CR" sz="2000" b="1" dirty="0" err="1"/>
              <a:t>ESLint</a:t>
            </a:r>
            <a:endParaRPr lang="es-CR" sz="2000" b="1" dirty="0"/>
          </a:p>
          <a:p>
            <a:pPr marL="0" indent="0">
              <a:buNone/>
            </a:pPr>
            <a:r>
              <a:rPr lang="es-CR" sz="2000" dirty="0"/>
              <a:t>    Análisis estático.</a:t>
            </a:r>
          </a:p>
          <a:p>
            <a:r>
              <a:rPr lang="es-CR" sz="2000" b="1" dirty="0" err="1"/>
              <a:t>TypeScript</a:t>
            </a:r>
            <a:endParaRPr lang="es-CR" sz="2000" b="1" dirty="0"/>
          </a:p>
          <a:p>
            <a:pPr marL="0" indent="0">
              <a:buNone/>
            </a:pPr>
            <a:r>
              <a:rPr lang="es-CR" sz="2000" dirty="0"/>
              <a:t>    Prevención de errores de </a:t>
            </a:r>
            <a:r>
              <a:rPr lang="es-CR" sz="2000" dirty="0" err="1"/>
              <a:t>runtime</a:t>
            </a:r>
            <a:r>
              <a:rPr lang="es-CR" sz="2000" dirty="0"/>
              <a:t>.</a:t>
            </a:r>
          </a:p>
          <a:p>
            <a:r>
              <a:rPr lang="es-CR" sz="2000" b="1" dirty="0" err="1"/>
              <a:t>Snyk</a:t>
            </a:r>
            <a:endParaRPr lang="es-CR" sz="2000" b="1" dirty="0"/>
          </a:p>
          <a:p>
            <a:pPr marL="0" indent="0">
              <a:buNone/>
            </a:pPr>
            <a:r>
              <a:rPr lang="es-CR" sz="2000" dirty="0"/>
              <a:t>    -Vulnerabilidades en dependencias.</a:t>
            </a:r>
          </a:p>
          <a:p>
            <a:pPr marL="0" indent="0">
              <a:buNone/>
            </a:pPr>
            <a:r>
              <a:rPr lang="es-CR" sz="2000" dirty="0"/>
              <a:t>    -Vulnerabilidades en imagen Docker.</a:t>
            </a:r>
          </a:p>
          <a:p>
            <a:r>
              <a:rPr lang="es-CR" sz="2000" b="1" dirty="0"/>
              <a:t>SBOM</a:t>
            </a:r>
            <a:r>
              <a:rPr lang="es-CR" sz="2000" dirty="0"/>
              <a:t> (Software Bill </a:t>
            </a:r>
            <a:r>
              <a:rPr lang="es-CR" sz="2000" dirty="0" err="1"/>
              <a:t>of</a:t>
            </a:r>
            <a:r>
              <a:rPr lang="es-CR" sz="2000" dirty="0"/>
              <a:t> </a:t>
            </a:r>
            <a:r>
              <a:rPr lang="es-CR" sz="2000" dirty="0" err="1"/>
              <a:t>Materials</a:t>
            </a:r>
            <a:r>
              <a:rPr lang="es-CR" sz="2000" dirty="0"/>
              <a:t>).</a:t>
            </a:r>
          </a:p>
          <a:p>
            <a:pPr marL="0" indent="0">
              <a:buNone/>
            </a:pPr>
            <a:endParaRPr lang="es-C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A546052-3A93-1987-ECC7-B3B8F4F6E69A}"/>
              </a:ext>
            </a:extLst>
          </p:cNvPr>
          <p:cNvSpPr txBox="1"/>
          <p:nvPr/>
        </p:nvSpPr>
        <p:spPr>
          <a:xfrm>
            <a:off x="6117663" y="1724491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sz="2000" b="1" dirty="0">
                <a:solidFill>
                  <a:srgbClr val="0070C0"/>
                </a:solidFill>
              </a:rPr>
              <a:t>Formato: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 err="1"/>
              <a:t>CycloneDX</a:t>
            </a:r>
            <a:r>
              <a:rPr lang="es-CR" sz="2000" dirty="0"/>
              <a:t> JSON</a:t>
            </a:r>
          </a:p>
          <a:p>
            <a:endParaRPr lang="es-CR" sz="2000" dirty="0"/>
          </a:p>
          <a:p>
            <a:r>
              <a:rPr lang="es-CR" sz="2000" b="1" dirty="0">
                <a:solidFill>
                  <a:srgbClr val="0070C0"/>
                </a:solidFill>
              </a:rPr>
              <a:t>Incluye: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Dependencias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Versiones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Hashes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 err="1"/>
              <a:t>Metadata</a:t>
            </a:r>
            <a:endParaRPr lang="es-CR" sz="2000" dirty="0"/>
          </a:p>
          <a:p>
            <a:endParaRPr lang="es-CR" sz="2000" dirty="0"/>
          </a:p>
          <a:p>
            <a:r>
              <a:rPr lang="es-CR" sz="2000" b="1" dirty="0">
                <a:solidFill>
                  <a:srgbClr val="0070C0"/>
                </a:solidFill>
              </a:rPr>
              <a:t>Importancia: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Cumple con prácticas modernas de seguridad de </a:t>
            </a:r>
            <a:r>
              <a:rPr lang="es-CR" sz="2000" dirty="0" err="1"/>
              <a:t>supply</a:t>
            </a:r>
            <a:r>
              <a:rPr lang="es-CR" sz="2000" dirty="0"/>
              <a:t> </a:t>
            </a:r>
            <a:r>
              <a:rPr lang="es-CR" sz="2000" dirty="0" err="1"/>
              <a:t>chain</a:t>
            </a:r>
            <a:r>
              <a:rPr lang="es-CR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Permite auditorías.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Permite trazabilidad.</a:t>
            </a:r>
          </a:p>
        </p:txBody>
      </p:sp>
      <p:pic>
        <p:nvPicPr>
          <p:cNvPr id="5" name="Imagen 4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03C32EBD-9A3D-5EAD-DE3C-359B02932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81" y="4854314"/>
            <a:ext cx="5488821" cy="141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46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B374CB-7FAC-7B0D-E748-CC83EDA7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2B39CB-1174-8767-51CF-F86CB4C57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932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Observabilidad</a:t>
            </a:r>
            <a:endParaRPr lang="en-US" sz="4000" b="1" kern="1200" dirty="0">
              <a:solidFill>
                <a:schemeClr val="accent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FA270E-AA88-9912-CA04-F3A98CF3E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57" y="2879706"/>
            <a:ext cx="3378200" cy="3635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1800" b="1" dirty="0" err="1">
                <a:solidFill>
                  <a:srgbClr val="0070C0"/>
                </a:solidFill>
              </a:rPr>
              <a:t>Stack</a:t>
            </a:r>
            <a:r>
              <a:rPr lang="es-CR" sz="1800" b="1" dirty="0">
                <a:solidFill>
                  <a:srgbClr val="0070C0"/>
                </a:solidFill>
              </a:rPr>
              <a:t> desplegado en EC2:</a:t>
            </a:r>
          </a:p>
          <a:p>
            <a:pPr marL="0" indent="0">
              <a:buNone/>
            </a:pPr>
            <a:endParaRPr lang="es-CR" dirty="0"/>
          </a:p>
          <a:p>
            <a:endParaRPr lang="es-CR" dirty="0"/>
          </a:p>
        </p:txBody>
      </p:sp>
      <p:pic>
        <p:nvPicPr>
          <p:cNvPr id="5" name="Imagen 4" descr="Interfaz de usuario gráfica, Aplicación, 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0B08FDC1-BE40-41BD-82EA-3E5943D60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98" y="3258253"/>
            <a:ext cx="4328280" cy="1592955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A8B1F95C-D8A4-DE62-DEEB-EAE07AA88E38}"/>
              </a:ext>
            </a:extLst>
          </p:cNvPr>
          <p:cNvGrpSpPr/>
          <p:nvPr/>
        </p:nvGrpSpPr>
        <p:grpSpPr>
          <a:xfrm>
            <a:off x="5621975" y="2254557"/>
            <a:ext cx="1492746" cy="767089"/>
            <a:chOff x="3943647" y="2091332"/>
            <a:chExt cx="1492746" cy="1099004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ABA97664-B738-979D-CD1A-3E0F827234F3}"/>
                </a:ext>
              </a:extLst>
            </p:cNvPr>
            <p:cNvSpPr/>
            <p:nvPr/>
          </p:nvSpPr>
          <p:spPr>
            <a:xfrm>
              <a:off x="3943647" y="209133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998BACF9-A8AA-CC7C-E0DB-63F52E096E6E}"/>
                </a:ext>
              </a:extLst>
            </p:cNvPr>
            <p:cNvSpPr txBox="1"/>
            <p:nvPr/>
          </p:nvSpPr>
          <p:spPr>
            <a:xfrm>
              <a:off x="3943647" y="2294689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CPU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EB079F-A590-BBDE-4A94-D9E90B6FACA5}"/>
              </a:ext>
            </a:extLst>
          </p:cNvPr>
          <p:cNvSpPr txBox="1"/>
          <p:nvPr/>
        </p:nvSpPr>
        <p:spPr>
          <a:xfrm>
            <a:off x="5489409" y="1640963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b="1" dirty="0">
                <a:solidFill>
                  <a:schemeClr val="accent2">
                    <a:lumMod val="75000"/>
                  </a:schemeClr>
                </a:solidFill>
              </a:rPr>
              <a:t>Métricas Implementadas: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ACBB74E-C508-D096-FEF9-669EA5ACB13A}"/>
              </a:ext>
            </a:extLst>
          </p:cNvPr>
          <p:cNvGrpSpPr/>
          <p:nvPr/>
        </p:nvGrpSpPr>
        <p:grpSpPr>
          <a:xfrm>
            <a:off x="7211286" y="2264080"/>
            <a:ext cx="1492746" cy="767089"/>
            <a:chOff x="3943647" y="2091332"/>
            <a:chExt cx="1492746" cy="1099004"/>
          </a:xfrm>
        </p:grpSpPr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FADE45BF-7B47-0144-ED11-F55A162A823B}"/>
                </a:ext>
              </a:extLst>
            </p:cNvPr>
            <p:cNvSpPr/>
            <p:nvPr/>
          </p:nvSpPr>
          <p:spPr>
            <a:xfrm>
              <a:off x="3943647" y="209133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7D0EBBD3-E824-E50A-D061-D4621EF88EC2}"/>
                </a:ext>
              </a:extLst>
            </p:cNvPr>
            <p:cNvSpPr txBox="1"/>
            <p:nvPr/>
          </p:nvSpPr>
          <p:spPr>
            <a:xfrm>
              <a:off x="3943647" y="2294689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Memoria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03370D7-8FE1-5CF1-A832-1129BEF28B7A}"/>
              </a:ext>
            </a:extLst>
          </p:cNvPr>
          <p:cNvSpPr txBox="1"/>
          <p:nvPr/>
        </p:nvSpPr>
        <p:spPr>
          <a:xfrm>
            <a:off x="5538636" y="1950923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b="1" dirty="0">
                <a:solidFill>
                  <a:srgbClr val="0070C0"/>
                </a:solidFill>
              </a:rPr>
              <a:t>EC2: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A151D6DB-C8CF-A298-29FC-FB314F51D47F}"/>
              </a:ext>
            </a:extLst>
          </p:cNvPr>
          <p:cNvGrpSpPr/>
          <p:nvPr/>
        </p:nvGrpSpPr>
        <p:grpSpPr>
          <a:xfrm>
            <a:off x="8800597" y="2267114"/>
            <a:ext cx="1492746" cy="870176"/>
            <a:chOff x="3943647" y="2091332"/>
            <a:chExt cx="1492746" cy="1246696"/>
          </a:xfrm>
        </p:grpSpPr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83D2D781-4A06-FC26-DE48-6AF966FBA2B5}"/>
                </a:ext>
              </a:extLst>
            </p:cNvPr>
            <p:cNvSpPr/>
            <p:nvPr/>
          </p:nvSpPr>
          <p:spPr>
            <a:xfrm>
              <a:off x="3943647" y="209133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91231164-A66F-4AA2-9611-ADB86E6E90B8}"/>
                </a:ext>
              </a:extLst>
            </p:cNvPr>
            <p:cNvSpPr txBox="1"/>
            <p:nvPr/>
          </p:nvSpPr>
          <p:spPr>
            <a:xfrm>
              <a:off x="3943647" y="2442381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Disco (/)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CR" sz="1600" dirty="0"/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D10A8143-5658-B9C6-88A9-32694F0E69CC}"/>
              </a:ext>
            </a:extLst>
          </p:cNvPr>
          <p:cNvGrpSpPr/>
          <p:nvPr/>
        </p:nvGrpSpPr>
        <p:grpSpPr>
          <a:xfrm>
            <a:off x="10293343" y="2263857"/>
            <a:ext cx="1532161" cy="937723"/>
            <a:chOff x="5703189" y="1109041"/>
            <a:chExt cx="1532161" cy="1343470"/>
          </a:xfrm>
        </p:grpSpPr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AEFAECBC-DBC2-F74E-0E9C-1566844FB62B}"/>
                </a:ext>
              </a:extLst>
            </p:cNvPr>
            <p:cNvSpPr/>
            <p:nvPr/>
          </p:nvSpPr>
          <p:spPr>
            <a:xfrm>
              <a:off x="5742604" y="1109041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C461384B-7B1C-7EDD-DAD7-EE7239990547}"/>
                </a:ext>
              </a:extLst>
            </p:cNvPr>
            <p:cNvSpPr txBox="1"/>
            <p:nvPr/>
          </p:nvSpPr>
          <p:spPr>
            <a:xfrm>
              <a:off x="5703189" y="1556864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Load </a:t>
              </a:r>
              <a:r>
                <a:rPr lang="es-CR" sz="1600" dirty="0" err="1"/>
                <a:t>average</a:t>
              </a:r>
              <a:endParaRPr lang="es-CR" sz="1600" dirty="0"/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CR" sz="1600" dirty="0"/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664BD8A-EF4E-6D9A-B773-90BF72224AAA}"/>
              </a:ext>
            </a:extLst>
          </p:cNvPr>
          <p:cNvSpPr txBox="1"/>
          <p:nvPr/>
        </p:nvSpPr>
        <p:spPr>
          <a:xfrm>
            <a:off x="5538636" y="3059668"/>
            <a:ext cx="6093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b="1" dirty="0">
                <a:solidFill>
                  <a:srgbClr val="0070C0"/>
                </a:solidFill>
              </a:rPr>
              <a:t>Contenedores: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7129703E-8BB7-22C1-688A-4DE2C7979CC1}"/>
              </a:ext>
            </a:extLst>
          </p:cNvPr>
          <p:cNvGrpSpPr/>
          <p:nvPr/>
        </p:nvGrpSpPr>
        <p:grpSpPr>
          <a:xfrm>
            <a:off x="5631589" y="3372561"/>
            <a:ext cx="1535607" cy="937723"/>
            <a:chOff x="3943647" y="2091332"/>
            <a:chExt cx="1535607" cy="1343470"/>
          </a:xfrm>
        </p:grpSpPr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94E773C0-7A8C-155F-78B8-DADD14D43844}"/>
                </a:ext>
              </a:extLst>
            </p:cNvPr>
            <p:cNvSpPr/>
            <p:nvPr/>
          </p:nvSpPr>
          <p:spPr>
            <a:xfrm>
              <a:off x="3943647" y="209133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8A13597C-D850-B536-103D-C4E48A366AFA}"/>
                </a:ext>
              </a:extLst>
            </p:cNvPr>
            <p:cNvSpPr txBox="1"/>
            <p:nvPr/>
          </p:nvSpPr>
          <p:spPr>
            <a:xfrm>
              <a:off x="3986508" y="2539155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Estado (UP/DOWN)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CR" sz="1600" dirty="0"/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D3EE25CC-1A30-0921-FA93-163BD2F93225}"/>
              </a:ext>
            </a:extLst>
          </p:cNvPr>
          <p:cNvGrpSpPr/>
          <p:nvPr/>
        </p:nvGrpSpPr>
        <p:grpSpPr>
          <a:xfrm>
            <a:off x="7167196" y="3379532"/>
            <a:ext cx="1492746" cy="767089"/>
            <a:chOff x="3943647" y="2091332"/>
            <a:chExt cx="1492746" cy="1099004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85F20B9D-7A84-8373-073B-9410EB9942CD}"/>
                </a:ext>
              </a:extLst>
            </p:cNvPr>
            <p:cNvSpPr/>
            <p:nvPr/>
          </p:nvSpPr>
          <p:spPr>
            <a:xfrm>
              <a:off x="3943647" y="209133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5863739D-DBAF-B644-EBFB-39FF110A1BB5}"/>
                </a:ext>
              </a:extLst>
            </p:cNvPr>
            <p:cNvSpPr txBox="1"/>
            <p:nvPr/>
          </p:nvSpPr>
          <p:spPr>
            <a:xfrm>
              <a:off x="3943647" y="2294689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Memoria por contenedor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97204BDA-DE9A-8997-29FD-66569CE49401}"/>
              </a:ext>
            </a:extLst>
          </p:cNvPr>
          <p:cNvGrpSpPr/>
          <p:nvPr/>
        </p:nvGrpSpPr>
        <p:grpSpPr>
          <a:xfrm>
            <a:off x="8659942" y="3379532"/>
            <a:ext cx="1535607" cy="937723"/>
            <a:chOff x="5531489" y="637092"/>
            <a:chExt cx="1535607" cy="1343470"/>
          </a:xfrm>
        </p:grpSpPr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DBA039B5-46CF-22C2-CED7-82FC0CA5224D}"/>
                </a:ext>
              </a:extLst>
            </p:cNvPr>
            <p:cNvSpPr/>
            <p:nvPr/>
          </p:nvSpPr>
          <p:spPr>
            <a:xfrm>
              <a:off x="5574350" y="63709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BC55C430-5515-B051-9BC9-BD50DC5123ED}"/>
                </a:ext>
              </a:extLst>
            </p:cNvPr>
            <p:cNvSpPr txBox="1"/>
            <p:nvPr/>
          </p:nvSpPr>
          <p:spPr>
            <a:xfrm>
              <a:off x="5531489" y="1084915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Disco por Contenedor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CR" sz="1600" dirty="0"/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d</a:t>
              </a:r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B1AC7C62-3898-803D-489B-2434F80653A5}"/>
              </a:ext>
            </a:extLst>
          </p:cNvPr>
          <p:cNvGrpSpPr/>
          <p:nvPr/>
        </p:nvGrpSpPr>
        <p:grpSpPr>
          <a:xfrm>
            <a:off x="10238410" y="3377147"/>
            <a:ext cx="1501529" cy="881258"/>
            <a:chOff x="3943647" y="2091332"/>
            <a:chExt cx="1501529" cy="1262573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2075BB65-D4E9-7AEE-A447-873C7C34DF9B}"/>
                </a:ext>
              </a:extLst>
            </p:cNvPr>
            <p:cNvSpPr/>
            <p:nvPr/>
          </p:nvSpPr>
          <p:spPr>
            <a:xfrm>
              <a:off x="3943647" y="209133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A73E616C-F355-CBDC-AA6B-CD571F64663A}"/>
                </a:ext>
              </a:extLst>
            </p:cNvPr>
            <p:cNvSpPr txBox="1"/>
            <p:nvPr/>
          </p:nvSpPr>
          <p:spPr>
            <a:xfrm>
              <a:off x="3952430" y="2458258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Red (</a:t>
              </a:r>
              <a:r>
                <a:rPr lang="es-CR" sz="1600" dirty="0" err="1"/>
                <a:t>rx</a:t>
              </a:r>
              <a:r>
                <a:rPr lang="es-CR" sz="1600" dirty="0"/>
                <a:t>/</a:t>
              </a:r>
              <a:r>
                <a:rPr lang="es-CR" sz="1600" dirty="0" err="1"/>
                <a:t>tx</a:t>
              </a:r>
              <a:r>
                <a:rPr lang="es-CR" sz="1600" dirty="0"/>
                <a:t>)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 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2F0EE005-180C-0DB9-08F4-6BB4F5050CFB}"/>
              </a:ext>
            </a:extLst>
          </p:cNvPr>
          <p:cNvGrpSpPr/>
          <p:nvPr/>
        </p:nvGrpSpPr>
        <p:grpSpPr>
          <a:xfrm>
            <a:off x="5604246" y="4100169"/>
            <a:ext cx="1536608" cy="1091118"/>
            <a:chOff x="3899785" y="2091332"/>
            <a:chExt cx="1536608" cy="1563238"/>
          </a:xfrm>
        </p:grpSpPr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20F3170A-2D1C-57F5-9FD4-2F63AA24E1BB}"/>
                </a:ext>
              </a:extLst>
            </p:cNvPr>
            <p:cNvSpPr/>
            <p:nvPr/>
          </p:nvSpPr>
          <p:spPr>
            <a:xfrm>
              <a:off x="3943647" y="2091332"/>
              <a:ext cx="1492746" cy="89564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CR"/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6E6E3103-0C1D-C9E7-AB9D-F29ACB6AC514}"/>
                </a:ext>
              </a:extLst>
            </p:cNvPr>
            <p:cNvSpPr txBox="1"/>
            <p:nvPr/>
          </p:nvSpPr>
          <p:spPr>
            <a:xfrm>
              <a:off x="3899785" y="2758923"/>
              <a:ext cx="1492746" cy="89564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CPU por contenedor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)</a:t>
              </a:r>
            </a:p>
            <a:p>
              <a:pPr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CR" sz="1600" dirty="0"/>
                <a:t> </a:t>
              </a:r>
            </a:p>
            <a:p>
              <a:pPr marL="0" lvl="0" indent="0" algn="ctr" defTabSz="666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500" kern="1200" dirty="0"/>
            </a:p>
          </p:txBody>
        </p:sp>
      </p:grp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223660C-2FEF-57DA-CE71-5C7E85BE3B83}"/>
              </a:ext>
            </a:extLst>
          </p:cNvPr>
          <p:cNvSpPr txBox="1"/>
          <p:nvPr/>
        </p:nvSpPr>
        <p:spPr>
          <a:xfrm>
            <a:off x="5604246" y="5123792"/>
            <a:ext cx="5357812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s-CR" b="1" dirty="0">
                <a:solidFill>
                  <a:schemeClr val="accent1">
                    <a:lumMod val="75000"/>
                  </a:schemeClr>
                </a:solidFill>
              </a:rPr>
              <a:t>Justificación Técnica:</a:t>
            </a:r>
          </a:p>
          <a:p>
            <a:r>
              <a:rPr lang="es-CR" dirty="0"/>
              <a:t>Monitoreo de infraestructura.</a:t>
            </a:r>
          </a:p>
          <a:p>
            <a:r>
              <a:rPr lang="es-CR" dirty="0"/>
              <a:t>Monitoreo de contenedores. </a:t>
            </a:r>
          </a:p>
          <a:p>
            <a:r>
              <a:rPr lang="es-CR" dirty="0"/>
              <a:t>Separación de métricas host vs contenedor. </a:t>
            </a:r>
          </a:p>
          <a:p>
            <a:r>
              <a:rPr lang="es-CR" dirty="0" err="1"/>
              <a:t>Dashboards</a:t>
            </a:r>
            <a:r>
              <a:rPr lang="es-CR" dirty="0"/>
              <a:t> personalizados.</a:t>
            </a:r>
          </a:p>
        </p:txBody>
      </p:sp>
    </p:spTree>
    <p:extLst>
      <p:ext uri="{BB962C8B-B14F-4D97-AF65-F5344CB8AC3E}">
        <p14:creationId xmlns:p14="http://schemas.microsoft.com/office/powerpoint/2010/main" val="35929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22A74-BA5E-0B69-BC49-BF7E6A239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6556F1-4C79-676E-9231-E84FFC654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67" y="353786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R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Control de Recursos</a:t>
            </a:r>
            <a:endParaRPr lang="en-US" sz="40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918A4A-1B32-5439-D772-E594DC8E2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67" y="1813161"/>
            <a:ext cx="5564607" cy="14001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R" sz="2000" b="1" dirty="0"/>
              <a:t>El contenedor de la app se ejecuta con:</a:t>
            </a:r>
          </a:p>
          <a:p>
            <a:r>
              <a:rPr lang="es-CR" sz="2000" dirty="0"/>
              <a:t>--</a:t>
            </a:r>
            <a:r>
              <a:rPr lang="es-CR" sz="2000" dirty="0" err="1"/>
              <a:t>memory</a:t>
            </a:r>
            <a:r>
              <a:rPr lang="es-CR" sz="2000" dirty="0"/>
              <a:t>="256m"</a:t>
            </a:r>
          </a:p>
          <a:p>
            <a:r>
              <a:rPr lang="es-CR" sz="2000" dirty="0"/>
              <a:t>--</a:t>
            </a:r>
            <a:r>
              <a:rPr lang="es-CR" sz="2000" dirty="0" err="1"/>
              <a:t>restart</a:t>
            </a:r>
            <a:r>
              <a:rPr lang="es-CR" sz="2000" dirty="0"/>
              <a:t> </a:t>
            </a:r>
            <a:r>
              <a:rPr lang="es-CR" sz="2000" dirty="0" err="1"/>
              <a:t>unless-stopped</a:t>
            </a:r>
            <a:endParaRPr lang="es-CR" sz="2000" dirty="0"/>
          </a:p>
          <a:p>
            <a:pPr marL="0" indent="0">
              <a:buNone/>
            </a:pPr>
            <a:endParaRPr lang="es-CR" sz="2000" dirty="0"/>
          </a:p>
          <a:p>
            <a:endParaRPr lang="es-CR" dirty="0"/>
          </a:p>
          <a:p>
            <a:endParaRPr lang="es-CR" dirty="0"/>
          </a:p>
        </p:txBody>
      </p:sp>
      <p:pic>
        <p:nvPicPr>
          <p:cNvPr id="6" name="Imagen 5" descr="Interfaz de usuario gráfica, Diagrama&#10;&#10;El contenido generado por IA puede ser incorrecto.">
            <a:extLst>
              <a:ext uri="{FF2B5EF4-FFF2-40B4-BE49-F238E27FC236}">
                <a16:creationId xmlns:a16="http://schemas.microsoft.com/office/drawing/2014/main" id="{7B8B02B5-C624-7909-A910-56C73532B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057" y="3429000"/>
            <a:ext cx="6664803" cy="1291903"/>
          </a:xfrm>
          <a:prstGeom prst="rect">
            <a:avLst/>
          </a:prstGeom>
        </p:spPr>
      </p:pic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3D6045A0-2027-BD5D-27DE-47D57831CC8B}"/>
              </a:ext>
            </a:extLst>
          </p:cNvPr>
          <p:cNvSpPr txBox="1">
            <a:spLocks/>
          </p:cNvSpPr>
          <p:nvPr/>
        </p:nvSpPr>
        <p:spPr>
          <a:xfrm>
            <a:off x="754967" y="4064683"/>
            <a:ext cx="5877427" cy="3077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C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CR" sz="2000" b="1" dirty="0">
                <a:solidFill>
                  <a:schemeClr val="accent2">
                    <a:lumMod val="75000"/>
                  </a:schemeClr>
                </a:solidFill>
              </a:rPr>
              <a:t>Justificación:</a:t>
            </a:r>
          </a:p>
          <a:p>
            <a:r>
              <a:rPr lang="es-CR" sz="2000" dirty="0"/>
              <a:t>Previene consumo excesivo.</a:t>
            </a:r>
          </a:p>
          <a:p>
            <a:r>
              <a:rPr lang="es-CR" sz="2000" dirty="0"/>
              <a:t>Garantiza resiliencia básica.</a:t>
            </a:r>
          </a:p>
          <a:p>
            <a:endParaRPr lang="es-CR" dirty="0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640904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1F62E-36BD-8622-F050-A3B8F2B43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B68E6B-9948-FB6A-B6E0-9B8DCB12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34" y="948243"/>
            <a:ext cx="3201366" cy="3387497"/>
          </a:xfrm>
        </p:spPr>
        <p:txBody>
          <a:bodyPr anchor="b">
            <a:normAutofit/>
          </a:bodyPr>
          <a:lstStyle/>
          <a:p>
            <a:r>
              <a:rPr lang="es-CR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Gestión de Secretos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7F546-C31E-E74A-EEEE-ACD28B5C3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27183"/>
            <a:ext cx="3572441" cy="3613040"/>
          </a:xfrm>
        </p:spPr>
        <p:txBody>
          <a:bodyPr anchor="ctr">
            <a:spAutoFit/>
          </a:bodyPr>
          <a:lstStyle/>
          <a:p>
            <a:pPr marL="0" indent="0">
              <a:buNone/>
            </a:pPr>
            <a:r>
              <a:rPr lang="es-CR" sz="2000" b="1" dirty="0">
                <a:solidFill>
                  <a:srgbClr val="0070C0"/>
                </a:solidFill>
              </a:rPr>
              <a:t>GitHub </a:t>
            </a:r>
            <a:r>
              <a:rPr lang="es-CR" sz="2000" b="1" dirty="0" err="1">
                <a:solidFill>
                  <a:srgbClr val="0070C0"/>
                </a:solidFill>
              </a:rPr>
              <a:t>Secrets</a:t>
            </a:r>
            <a:r>
              <a:rPr lang="es-CR" sz="2000" b="1" dirty="0">
                <a:solidFill>
                  <a:srgbClr val="0070C0"/>
                </a:solidFill>
              </a:rPr>
              <a:t>:</a:t>
            </a:r>
          </a:p>
          <a:p>
            <a:r>
              <a:rPr lang="es-CR" sz="2000" dirty="0"/>
              <a:t>AWS_ACCESS_KEY_ID</a:t>
            </a:r>
          </a:p>
          <a:p>
            <a:r>
              <a:rPr lang="es-CR" sz="2000" dirty="0"/>
              <a:t>AWS_SECRET_ACCESS_KEY</a:t>
            </a:r>
          </a:p>
          <a:p>
            <a:r>
              <a:rPr lang="es-CR" sz="2000" dirty="0"/>
              <a:t>EC2_HOST</a:t>
            </a:r>
          </a:p>
          <a:p>
            <a:r>
              <a:rPr lang="es-CR" sz="2000" dirty="0"/>
              <a:t>EC2_SSH_KEY</a:t>
            </a:r>
          </a:p>
          <a:p>
            <a:r>
              <a:rPr lang="es-CR" sz="2000" dirty="0"/>
              <a:t>SNYK_TOKEN</a:t>
            </a:r>
          </a:p>
          <a:p>
            <a:pPr marL="0" indent="0">
              <a:buNone/>
            </a:pPr>
            <a:endParaRPr lang="es-CR" sz="2000" dirty="0"/>
          </a:p>
          <a:p>
            <a:pPr marL="0" indent="0">
              <a:buNone/>
            </a:pPr>
            <a:endParaRPr lang="es-CR" sz="2000" dirty="0"/>
          </a:p>
          <a:p>
            <a:endParaRPr lang="es-CR" sz="2000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BD70B97B-4915-D94A-903A-E9584627B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727" y="3263620"/>
            <a:ext cx="6527636" cy="1533994"/>
          </a:xfrm>
          <a:prstGeom prst="rect">
            <a:avLst/>
          </a:prstGeom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CECE396-587E-7DA1-3777-D7BC5ED8A0CB}"/>
              </a:ext>
            </a:extLst>
          </p:cNvPr>
          <p:cNvSpPr txBox="1">
            <a:spLocks/>
          </p:cNvSpPr>
          <p:nvPr/>
        </p:nvSpPr>
        <p:spPr>
          <a:xfrm>
            <a:off x="4581727" y="5218214"/>
            <a:ext cx="6014587" cy="16296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CR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CR" sz="2000" b="1" dirty="0">
                <a:solidFill>
                  <a:schemeClr val="accent2">
                    <a:lumMod val="75000"/>
                  </a:schemeClr>
                </a:solidFill>
              </a:rPr>
              <a:t>Justificación:</a:t>
            </a:r>
          </a:p>
          <a:p>
            <a:r>
              <a:rPr lang="es-CR" sz="2000" dirty="0"/>
              <a:t>No se almacenan credenciales en el repositorio. </a:t>
            </a:r>
          </a:p>
          <a:p>
            <a:r>
              <a:rPr lang="es-CR" sz="2000" dirty="0"/>
              <a:t>Cumple buenas prácticas de seguridad.</a:t>
            </a:r>
          </a:p>
          <a:p>
            <a:endParaRPr lang="es-CR" sz="2000" dirty="0"/>
          </a:p>
          <a:p>
            <a:endParaRPr lang="es-CR" sz="2000" dirty="0"/>
          </a:p>
        </p:txBody>
      </p:sp>
    </p:spTree>
    <p:extLst>
      <p:ext uri="{BB962C8B-B14F-4D97-AF65-F5344CB8AC3E}">
        <p14:creationId xmlns:p14="http://schemas.microsoft.com/office/powerpoint/2010/main" val="145133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6D7AE-6621-D22A-3000-E529AEDD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13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859FF86-9760-8D63-6769-5239293B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s-CR" sz="4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Evidencias Generadas</a:t>
            </a:r>
          </a:p>
        </p:txBody>
      </p:sp>
      <p:pic>
        <p:nvPicPr>
          <p:cNvPr id="5" name="Imagen 4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A29033F5-9B41-016B-6C60-13DDE029D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26" y="1982360"/>
            <a:ext cx="4565251" cy="2191320"/>
          </a:xfrm>
          <a:prstGeom prst="rect">
            <a:avLst/>
          </a:prstGeom>
        </p:spPr>
      </p:pic>
      <p:pic>
        <p:nvPicPr>
          <p:cNvPr id="7" name="Imagen 6" descr="Captura de pantalla de un videojuego&#10;&#10;El contenido generado por IA puede ser incorrecto.">
            <a:extLst>
              <a:ext uri="{FF2B5EF4-FFF2-40B4-BE49-F238E27FC236}">
                <a16:creationId xmlns:a16="http://schemas.microsoft.com/office/drawing/2014/main" id="{5221175C-6FFF-3ED7-3E04-68BFB6CC3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671" y="1982360"/>
            <a:ext cx="4896808" cy="2191320"/>
          </a:xfrm>
          <a:prstGeom prst="rect">
            <a:avLst/>
          </a:prstGeom>
        </p:spPr>
      </p:pic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464110B7-3588-9602-5816-B142F33701FD}"/>
              </a:ext>
            </a:extLst>
          </p:cNvPr>
          <p:cNvSpPr txBox="1">
            <a:spLocks/>
          </p:cNvSpPr>
          <p:nvPr/>
        </p:nvSpPr>
        <p:spPr>
          <a:xfrm>
            <a:off x="2771996" y="4713462"/>
            <a:ext cx="6991350" cy="3635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sz="2200" dirty="0" err="1"/>
              <a:t>Workflow</a:t>
            </a:r>
            <a:r>
              <a:rPr lang="es-CR" sz="2200" dirty="0"/>
              <a:t> YAML</a:t>
            </a:r>
          </a:p>
          <a:p>
            <a:r>
              <a:rPr lang="es-CR" sz="2200" dirty="0" err="1"/>
              <a:t>Dockerfile</a:t>
            </a:r>
            <a:endParaRPr lang="es-CR" sz="2200" dirty="0"/>
          </a:p>
          <a:p>
            <a:r>
              <a:rPr lang="es-CR" sz="2200" dirty="0"/>
              <a:t>SBOM</a:t>
            </a:r>
          </a:p>
          <a:p>
            <a:r>
              <a:rPr lang="es-CR" sz="2200" dirty="0"/>
              <a:t>Imagen en ECR</a:t>
            </a:r>
          </a:p>
          <a:p>
            <a:endParaRPr lang="es-CR" dirty="0"/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92163844-5266-42AF-360A-C666936BCB79}"/>
              </a:ext>
            </a:extLst>
          </p:cNvPr>
          <p:cNvSpPr txBox="1">
            <a:spLocks/>
          </p:cNvSpPr>
          <p:nvPr/>
        </p:nvSpPr>
        <p:spPr>
          <a:xfrm>
            <a:off x="6267671" y="4713461"/>
            <a:ext cx="6991350" cy="3635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R" sz="2200" dirty="0" err="1"/>
              <a:t>Dashboard</a:t>
            </a:r>
            <a:r>
              <a:rPr lang="es-CR" sz="2200" dirty="0"/>
              <a:t> funcionando</a:t>
            </a:r>
          </a:p>
          <a:p>
            <a:r>
              <a:rPr lang="es-CR" sz="2200" dirty="0"/>
              <a:t>Escaneo </a:t>
            </a:r>
            <a:r>
              <a:rPr lang="es-CR" sz="2200" dirty="0" err="1"/>
              <a:t>Snyk</a:t>
            </a:r>
            <a:r>
              <a:rPr lang="es-CR" sz="2200" dirty="0"/>
              <a:t> exitoso</a:t>
            </a:r>
          </a:p>
          <a:p>
            <a:r>
              <a:rPr lang="es-CR" sz="2200" dirty="0" err="1"/>
              <a:t>ESLint</a:t>
            </a:r>
            <a:r>
              <a:rPr lang="es-CR" sz="2200" dirty="0"/>
              <a:t> validado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908998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9B52C-1C3F-F006-6F06-B653A0CA1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1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15BC2A-F187-6BF6-EBDC-A167871D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849" y="2528917"/>
            <a:ext cx="4150581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 err="1">
                <a:solidFill>
                  <a:schemeClr val="accent4">
                    <a:lumMod val="50000"/>
                  </a:schemeClr>
                </a:solidFill>
              </a:rPr>
              <a:t>Riesgos</a:t>
            </a: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 y </a:t>
            </a:r>
            <a:r>
              <a:rPr lang="en-US" sz="4000" b="1" dirty="0" err="1">
                <a:solidFill>
                  <a:schemeClr val="accent4">
                    <a:lumMod val="50000"/>
                  </a:schemeClr>
                </a:solidFill>
              </a:rPr>
              <a:t>Mejoras</a:t>
            </a: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4">
                    <a:lumMod val="50000"/>
                  </a:schemeClr>
                </a:solidFill>
              </a:rPr>
              <a:t>Futuras</a:t>
            </a:r>
            <a:endParaRPr lang="en-US" sz="4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73CF889-41AC-DBC1-B160-168010E82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006" y="541248"/>
            <a:ext cx="7885987" cy="147862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63F5516-4337-2A69-E86B-1E6E9437EF62}"/>
              </a:ext>
            </a:extLst>
          </p:cNvPr>
          <p:cNvSpPr txBox="1"/>
          <p:nvPr/>
        </p:nvSpPr>
        <p:spPr>
          <a:xfrm>
            <a:off x="5113431" y="2415955"/>
            <a:ext cx="6495720" cy="281858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bg1">
                  <a:lumMod val="95000"/>
                </a:schemeClr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</a:rPr>
              <a:t>Implementar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 TLS (HTTPS con ACM + ALB)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</a:rPr>
              <a:t>Implementar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 WAF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</a:rPr>
              <a:t>Migrar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 a ECS o EKS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 err="1">
                <a:solidFill>
                  <a:schemeClr val="bg1">
                    <a:lumMod val="95000"/>
                  </a:schemeClr>
                </a:solidFill>
                <a:effectLst/>
              </a:rPr>
              <a:t>Implementar</a:t>
            </a:r>
            <a:r>
              <a:rPr lang="en-US" sz="2000" b="0" i="0" dirty="0">
                <a:solidFill>
                  <a:schemeClr val="bg1">
                    <a:lumMod val="95000"/>
                  </a:schemeClr>
                </a:solidFill>
                <a:effectLst/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escaneo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con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Trivy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Integrar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SonarQube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Implementar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OIDC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</a:rPr>
              <a:t>en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GitHub Actions (sin access keys)</a:t>
            </a: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39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4490AA-77AE-2883-8C1A-5E593404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CR" sz="4000">
                <a:solidFill>
                  <a:srgbClr val="FFFFFF"/>
                </a:solidFill>
              </a:rPr>
              <a:t>Conclusión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9737F2-07F0-461D-F9FB-C0DF82EE3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797" y="649480"/>
            <a:ext cx="3738844" cy="5546047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s-CR" sz="2400" b="1" dirty="0"/>
              <a:t>El proyecto demuestra implementación integral de:</a:t>
            </a:r>
          </a:p>
          <a:p>
            <a:r>
              <a:rPr lang="es-CR" sz="2400" dirty="0"/>
              <a:t>CI/CD real.</a:t>
            </a:r>
          </a:p>
          <a:p>
            <a:r>
              <a:rPr lang="es-CR" sz="2400" dirty="0"/>
              <a:t>Seguridad integrada.</a:t>
            </a:r>
          </a:p>
          <a:p>
            <a:r>
              <a:rPr lang="es-CR" sz="2400" dirty="0"/>
              <a:t>Infraestructura </a:t>
            </a:r>
            <a:r>
              <a:rPr lang="es-CR" sz="2400" dirty="0" err="1"/>
              <a:t>cloud</a:t>
            </a:r>
            <a:r>
              <a:rPr lang="es-CR" sz="2400" dirty="0"/>
              <a:t>.</a:t>
            </a:r>
          </a:p>
          <a:p>
            <a:r>
              <a:rPr lang="es-CR" sz="2400" dirty="0" err="1"/>
              <a:t>Contenerización</a:t>
            </a:r>
            <a:r>
              <a:rPr lang="es-CR" sz="2400" dirty="0"/>
              <a:t> optimizada.</a:t>
            </a:r>
          </a:p>
          <a:p>
            <a:r>
              <a:rPr lang="es-CR" sz="2400" dirty="0" err="1"/>
              <a:t>Observabilidad</a:t>
            </a:r>
            <a:r>
              <a:rPr lang="es-CR" sz="2400" dirty="0"/>
              <a:t> completa.</a:t>
            </a:r>
          </a:p>
          <a:p>
            <a:r>
              <a:rPr lang="es-CR" sz="2400" dirty="0"/>
              <a:t>Buenas prácticas DevOps.</a:t>
            </a:r>
          </a:p>
          <a:p>
            <a:pPr marL="0" indent="0">
              <a:buNone/>
            </a:pPr>
            <a:endParaRPr lang="es-CR" sz="2400" dirty="0"/>
          </a:p>
          <a:p>
            <a:pPr marL="0" indent="0">
              <a:buNone/>
            </a:pPr>
            <a:r>
              <a:rPr lang="es-CR" sz="2400" b="1" dirty="0"/>
              <a:t>Se aplicaron principios de:</a:t>
            </a:r>
          </a:p>
          <a:p>
            <a:r>
              <a:rPr lang="es-CR" sz="2400" dirty="0"/>
              <a:t>Automatización.</a:t>
            </a:r>
          </a:p>
          <a:p>
            <a:r>
              <a:rPr lang="es-CR" sz="2400" dirty="0"/>
              <a:t>Seguridad en cada etapa.</a:t>
            </a:r>
          </a:p>
          <a:p>
            <a:r>
              <a:rPr lang="es-CR" sz="2400" dirty="0"/>
              <a:t>Infraestructura reproducible.</a:t>
            </a:r>
          </a:p>
          <a:p>
            <a:r>
              <a:rPr lang="es-CR" sz="2400" dirty="0"/>
              <a:t>Monitoreo proactivo.</a:t>
            </a:r>
          </a:p>
          <a:p>
            <a:r>
              <a:rPr lang="es-CR" sz="2400" dirty="0"/>
              <a:t>Entrega continua.</a:t>
            </a:r>
          </a:p>
          <a:p>
            <a:endParaRPr lang="es-CR" sz="2400" dirty="0"/>
          </a:p>
        </p:txBody>
      </p:sp>
      <p:pic>
        <p:nvPicPr>
          <p:cNvPr id="16" name="Picture 4" descr="Fondo de tecnología de bloques y redes azules">
            <a:extLst>
              <a:ext uri="{FF2B5EF4-FFF2-40B4-BE49-F238E27FC236}">
                <a16:creationId xmlns:a16="http://schemas.microsoft.com/office/drawing/2014/main" id="{7268C92A-BC48-76DD-9362-900DACB992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802" r="48713" b="-446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0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E9FB2-9E1C-8AF4-0AC8-EB83C07ED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6D84E8-AC15-B70D-AFB0-A0BF96D0B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696" y="1211518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Gracias…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2654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1144</Words>
  <Application>Microsoft Office PowerPoint</Application>
  <PresentationFormat>Panorámica</PresentationFormat>
  <Paragraphs>247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Proyecto Integrador DevOps Aplicación Web con CI/CD y Despliegue en AWS</vt:lpstr>
      <vt:lpstr>Introducción</vt:lpstr>
      <vt:lpstr>Arquitectura</vt:lpstr>
      <vt:lpstr>Fase 1: Desarrollo de Aplicación</vt:lpstr>
      <vt:lpstr>Presentación de PowerPoint</vt:lpstr>
      <vt:lpstr>Fase 3: Infraestructura en AWS</vt:lpstr>
      <vt:lpstr>Flujo del Pipeline</vt:lpstr>
      <vt:lpstr>DevSecOps – Seguridad Implementada</vt:lpstr>
      <vt:lpstr>Observabilidad</vt:lpstr>
      <vt:lpstr>Control de Recursos</vt:lpstr>
      <vt:lpstr>Gestión de Secretos</vt:lpstr>
      <vt:lpstr>Evidencias Generadas</vt:lpstr>
      <vt:lpstr>Riesgos y Mejoras Futuras</vt:lpstr>
      <vt:lpstr>Conclusión</vt:lpstr>
      <vt:lpstr>Gracias…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 DevOps Aplicación Web con CI/CD y Despliegue en AWS</dc:title>
  <dc:creator>Eliany Escalante Barquero</dc:creator>
  <cp:lastModifiedBy>Eliany Escalante</cp:lastModifiedBy>
  <cp:revision>5</cp:revision>
  <dcterms:created xsi:type="dcterms:W3CDTF">2026-02-17T16:08:57Z</dcterms:created>
  <dcterms:modified xsi:type="dcterms:W3CDTF">2026-02-18T20:27:44Z</dcterms:modified>
</cp:coreProperties>
</file>